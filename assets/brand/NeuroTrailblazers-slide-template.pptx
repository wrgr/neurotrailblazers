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Keep the amber pill for the unit/module label. Do not add a second accent colour. The background image carries the trail motif; do not stack a logo on top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Delete this slide before presenting. It exists to document the template.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SECTION. Number the parts in the pill. The sentence under the title is the promise the section keeps.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CONTENT. Four bullets is the ceiling. If you are tempted to shrink the font, split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COLUMN. 3:2 split, text left. Swap sides only when the figure is the argument and the text is annotation.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FIGURE. The image is the slide. Heading under 8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STAT. One number, one sentence. If the number needs a caveat, the caveat is the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STATS. Same unit or same kind of thing across the three; otherwise they are three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TABLE. Header row in mist. Bold the first column only when it is a label. Two callouts are allowed here because they are a pair.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DARK. At most one or two per deck. Amber is allowed as text here only because the background is ink (5:1).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SUMMARY. Left column is what was settled; right column is what the learner does before the next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CLOSING. Keep the licence line; change it only if the deck carries third-party figures with other terms.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NT_TITLE-image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NT_CLOSING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T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556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NEUROTRAILBLAZERS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69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T_MIST">
    <p:bg>
      <p:bgPr>
        <a:solidFill>
          <a:srgbClr val="E6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556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NEUROTRAILBLAZERS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69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T_DARK">
    <p:bg>
      <p:bgPr>
        <a:solidFill>
          <a:srgbClr val="1030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FE3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NEUROTRAILBLAZERS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FE3E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T_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T_CLOSING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69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68580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3246120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E882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0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00 · SESSION TITLE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61188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title: state the claim of the session in one line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Subtitle: who this is for and what they leave with. One sentence.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715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F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  ·  Affiliation  ·  Date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0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use this template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17320"/>
            <a:ext cx="54864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0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a slide of the right type; never restyle a blank one.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Headings state the claim, not the topic. The body earns it.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idea per slide. A second heading means a second slide.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or number slide carries a source line at the bottom.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appears once per slide at most, as a fill, never as text.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417320"/>
          <a:ext cx="50292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6576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3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3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Opener, once per deck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Divider between parts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slide: claim, support, callout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column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against a figure or 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Figure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 gets the room, caption below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number that matters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Rubrics, comparisons, specs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turn in the argument, sparingly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was settled, what is next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 slide, contact and licence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69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28600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0F6B7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6974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divider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690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 saying what this part settles, in the reader’s terms.</a:t>
            </a:r>
            <a:endParaRPr lang="en-US" sz="2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02975" y="548640"/>
            <a:ext cx="548640" cy="548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FE3E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0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content slide: the heading is the claim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heading states the takeaway, not the topic. The body earns it.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10881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10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the mechanism.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happens, then why it matters for the learner’s next decision.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10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over adjectives.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“About 2 PB per mm³” beats “very large”.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10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callout at most.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slide with two boxes has two slides in it.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10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Third-level detail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belongs in the speaker notes, not on the slide.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29768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E6F2F3"/>
          </a:solidFill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Note. </a:t>
            </a:r>
            <a:pPr indent="0" marL="0">
              <a:buNone/>
            </a:pPr>
            <a:r>
              <a:rPr lang="en-US" sz="1500" dirty="0">
                <a:solidFill>
                  <a:srgbClr val="10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 the caveat a careful practitioner would raise unprompted: an assumption, a version pin, a boundary of the claim.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989320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unit page or DOI-pinned citation.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69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0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columns: text against evidence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173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learner should be able to do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whether a merge or a split error is the more expensive fix for a given task.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proofreading budget that makes a connectivity claim defensible.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null model before the metric.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9319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slide does not claim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2976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proofreading rates transfer across datasets. They do not; calibrate per volume.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132320" y="1463040"/>
            <a:ext cx="4434840" cy="3108960"/>
          </a:xfrm>
          <a:prstGeom prst="roundRect">
            <a:avLst>
              <a:gd name="adj" fmla="val 2941"/>
            </a:avLst>
          </a:prstGeom>
          <a:solidFill>
            <a:srgbClr val="F5F8F8"/>
          </a:solidFill>
          <a:ln w="12700">
            <a:solidFill>
              <a:srgbClr val="D8E1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0" y="1463040"/>
            <a:ext cx="44348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placeholder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with an image (Insert › Pictures). Keep the 16:11 box.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132320" y="46634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Caption names what to look at, in one line.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989320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Author et al. (year), DOI.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69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0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Figure-first slide: caption below, heading short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2011680" y="1234440"/>
            <a:ext cx="8138160" cy="4160520"/>
          </a:xfrm>
          <a:prstGeom prst="roundRect">
            <a:avLst>
              <a:gd name="adj" fmla="val 2198"/>
            </a:avLst>
          </a:prstGeom>
          <a:solidFill>
            <a:srgbClr val="F5F8F8"/>
          </a:solidFill>
          <a:ln w="12700">
            <a:solidFill>
              <a:srgbClr val="D8E1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011680" y="1234440"/>
            <a:ext cx="8138160" cy="4160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placeholder (replace)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4864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caption. Say what the reader should notice, not what the figure is.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989320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Author et al. (year), DOI. Licence noted if not CC BY.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69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b="1" dirty="0">
                <a:solidFill>
                  <a:srgbClr val="0F6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</a:t>
            </a:r>
            <a:pPr indent="0" marL="0">
              <a:buNone/>
            </a:pPr>
            <a:r>
              <a:rPr lang="en-US" sz="5400" b="1" dirty="0">
                <a:solidFill>
                  <a:srgbClr val="0F6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GB</a:t>
            </a:r>
            <a:endParaRPr lang="en-US" sz="12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56616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cubic millimetre of imaged cortex, before any reconstruction. The infrastructure unit exists because of this number.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989320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Unit 04, Volume reconstruction infrastructure; MICrONS data release.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69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0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numbers, when one is not enough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400" b="1" dirty="0">
                <a:solidFill>
                  <a:srgbClr val="0F6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3832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units, each ending in a graded lab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97680" y="18288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400" b="1" dirty="0">
                <a:solidFill>
                  <a:srgbClr val="0F6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8400" dirty="0"/>
          </a:p>
        </p:txBody>
      </p:sp>
      <p:sp>
        <p:nvSpPr>
          <p:cNvPr id="6" name="Text 4"/>
          <p:cNvSpPr txBox="1"/>
          <p:nvPr/>
        </p:nvSpPr>
        <p:spPr>
          <a:xfrm>
            <a:off x="4297680" y="33832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kits with worksheets, rubrics and decks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955280" y="18288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400" b="1" dirty="0">
                <a:solidFill>
                  <a:srgbClr val="0F6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127</a:t>
            </a:r>
            <a:endParaRPr lang="en-US" sz="8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33832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dictionary terms with a typical value and a common confusion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69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0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Tables and rubrics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91153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480560"/>
                <a:gridCol w="459943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03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03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Segmentation call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03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required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yet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Trusts the automated merge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inspection recorded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Proficient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Inspects at branch points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Screenshot and coordinate per decision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Reports its own error rate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46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Blind re-check on a held-out sample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1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" y="3840480"/>
            <a:ext cx="5303520" cy="868680"/>
          </a:xfrm>
          <a:prstGeom prst="roundRect">
            <a:avLst>
              <a:gd name="adj" fmla="val 10526"/>
            </a:avLst>
          </a:prstGeom>
          <a:solidFill>
            <a:srgbClr val="E3F1E9"/>
          </a:solidFill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Good. </a:t>
            </a:r>
            <a:pPr indent="0" marL="0">
              <a:buNone/>
            </a:pPr>
            <a:r>
              <a:rPr lang="en-US" sz="1400" dirty="0">
                <a:solidFill>
                  <a:srgbClr val="10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behaviour that separates a practitioner from someone who followed the steps.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217920" y="3840480"/>
            <a:ext cx="5330952" cy="868680"/>
          </a:xfrm>
          <a:prstGeom prst="roundRect">
            <a:avLst>
              <a:gd name="adj" fmla="val 10526"/>
            </a:avLst>
          </a:prstGeom>
          <a:solidFill>
            <a:srgbClr val="FDECD6"/>
          </a:solidFill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Warn. </a:t>
            </a:r>
            <a:pPr indent="0" marL="0">
              <a:buNone/>
            </a:pPr>
            <a:r>
              <a:rPr lang="en-US" sz="1400" dirty="0">
                <a:solidFill>
                  <a:srgbClr val="10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failure that looks like success: the query runs, the number is plausible, the version was never pinned.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69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Dark content slide for the turn in the argument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sparingly, for the one slide where the room should sit up.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2024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1E4656"/>
          </a:solidFill>
          <a:ln/>
        </p:spPr>
        <p:txBody>
          <a:bodyPr wrap="square" lIns="177800" tIns="177800" rIns="177800" bIns="17780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82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point. </a:t>
            </a:r>
            <a:pPr indent="0" marL="0">
              <a:buNone/>
            </a:pPr>
            <a:r>
              <a:rPr lang="en-US" sz="1800" dirty="0">
                <a:solidFill>
                  <a:srgbClr val="E6F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is evidence of organisation and constraint, </a:t>
            </a:r>
            <a:pPr indent="0" marL="0">
              <a:buNone/>
            </a:pPr>
            <a:r>
              <a:rPr lang="en-US" sz="1800" b="1" dirty="0">
                <a:solidFill>
                  <a:srgbClr val="E6F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800" dirty="0">
                <a:solidFill>
                  <a:srgbClr val="E6F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direct proof of dynamics. The connectome bounds what the circuit can do; it does not say what it did.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200400"/>
            <a:ext cx="10881360" cy="1554480"/>
          </a:xfrm>
          <a:prstGeom prst="rect">
            <a:avLst/>
          </a:prstGeom>
          <a:solidFill>
            <a:srgbClr val="0B2430"/>
          </a:solidFill>
          <a:ln/>
        </p:spPr>
        <p:txBody>
          <a:bodyPr wrap="square" lIns="177800" tIns="177800" rIns="177800" bIns="17780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F2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Code stays short and pinned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F2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= CAVEclient("minnie65_public")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F2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 = client.materialize.synapse_query(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F2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post_ids=[root_id], materialization_version=1300)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FE3E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0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slide, quiet background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Settled in this session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claim, in one sentence.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metric, and the null it beat.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boundary: what this does not show.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4630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187452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Lab: produce the artifact and rubric-score it.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Read: the unit’s “Go deeper” links.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46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Bring: one question the figure did not answer.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569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68580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246888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657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Questions, corrections and pull requests: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neurotrailblazers.org</a:t>
            </a:r>
            <a:pPr indent="0" marL="0">
              <a:buNone/>
            </a:pPr>
            <a:r>
              <a:rPr lang="en-US" sz="1800" dirty="0">
                <a:solidFill>
                  <a:srgbClr val="B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github.com/wrgr/neurotrailblazers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206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F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by the NIH BRAIN CONNECTS program.  Content CC BY 4.0 unless noted.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NeuroTrailblazers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NeuroTrailblazers slide template</dc:title>
  <dc:subject>PptxGenJS Presentation</dc:subject>
  <dc:creator>NeuroTrailblazers</dc:creator>
  <cp:lastModifiedBy>NeuroTrailblazers</cp:lastModifiedBy>
  <cp:revision>1</cp:revision>
  <dcterms:created xsi:type="dcterms:W3CDTF">2026-09-05T04:39:19Z</dcterms:created>
  <dcterms:modified xsi:type="dcterms:W3CDTF">2026-09-05T04:39:19Z</dcterms:modified>
</cp:coreProperties>
</file>